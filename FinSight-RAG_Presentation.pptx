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14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091632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54864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DB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 9 PSIS · ACTIVITY 1 · RAG-BASED DOMAIN ASSISTANT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01168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6000" b="1" dirty="0">
                <a:solidFill>
                  <a:srgbClr val="F7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FinSight-RAG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9601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from company financial filings, every one with its document and page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5440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7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Akash Goyal · I025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5806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DB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Retrieval &amp; Demo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4206240" y="5440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7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Karan Lokhande · I039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4206240" y="5806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DB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&amp; Chain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544068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F7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Meer Magia · I040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7863840" y="580644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9DB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Evaluation, Report 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25880"/>
            <a:ext cx="1109441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10-K runs past 100 pages of narrative and tables. Finding one figure means searching the whole document, and a general LLM answers from memory, not from the filing.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548640" y="2743200"/>
            <a:ext cx="348477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306324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 pages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931920"/>
            <a:ext cx="28446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NIKE FY2023 10-K: risk factors, MD&amp;A and financial tables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353458" y="2743200"/>
            <a:ext cx="348477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73498" y="306324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source</a:t>
            </a:r>
            <a:endParaRPr lang="en-US" sz="3400" dirty="0"/>
          </a:p>
        </p:txBody>
      </p:sp>
      <p:sp>
        <p:nvSpPr>
          <p:cNvPr id="9" name="Text 7"/>
          <p:cNvSpPr txBox="1"/>
          <p:nvPr/>
        </p:nvSpPr>
        <p:spPr>
          <a:xfrm>
            <a:off x="4673498" y="3931920"/>
            <a:ext cx="28446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 LLM can state figures that the filing does not contain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8158277" y="2743200"/>
            <a:ext cx="3484778" cy="2377440"/>
          </a:xfrm>
          <a:prstGeom prst="roundRect">
            <a:avLst>
              <a:gd name="adj" fmla="val 4615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478317" y="3063240"/>
            <a:ext cx="284469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+ page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8478317" y="3931920"/>
            <a:ext cx="284469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FinSight-RAG answers only from retrieved passages and cites the page, or says the filing does not contain it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Sight-RAG architecture: indexing and question-answering pipelin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LangChain components</a:t>
            </a:r>
            <a:endParaRPr lang="en-US" sz="36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3566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2825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b="1" dirty="0">
                          <a:solidFill>
                            <a:srgbClr val="14213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 in FinSight-RAG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CE3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VectorStoreRetriever + HybridRetriever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 semantic + TF-IDF keyword search, fused with Reciprocal Rank Fusion into the top-6 chunks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ChatPromptTemplate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Numbered excerpts labelled [n] (document, p. N); answer only from them; slot for chat history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LCEL chain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Rewrite follow-up → retrieve → prompt → Gemini → parse → attach sources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PydanticOutputParser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{answer, answerable, used_excerpts}; page numbers come from chunk metadata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RunnableWithMessageHistory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500" dirty="0">
                          <a:solidFill>
                            <a:srgbClr val="3B4557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per session, so follow-up questions work</a:t>
                      </a:r>
                      <a:endParaRPr lang="en-US" sz="15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DE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98932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Also: RecursiveCharacterTextSplitter · HuggingFaceEmbeddings · init_chat_model (Gemini 3.5 Flash; one variable switches provider)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7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demo: four test cases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5387188" cy="2240280"/>
          </a:xfrm>
          <a:prstGeom prst="roundRect">
            <a:avLst>
              <a:gd name="adj" fmla="val 4898"/>
            </a:avLst>
          </a:prstGeom>
          <a:solidFill>
            <a:srgbClr val="1E2F55"/>
          </a:solidFill>
          <a:ln w="12700">
            <a:solidFill>
              <a:srgbClr val="1E2F55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474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DB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· FACT LOOKUP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57400"/>
            <a:ext cx="47471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7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many employees did NIKE have as of May 31, 2023?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06324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about 83,700 (p. 9)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255868" y="1417320"/>
            <a:ext cx="5387188" cy="2240280"/>
          </a:xfrm>
          <a:prstGeom prst="roundRect">
            <a:avLst>
              <a:gd name="adj" fmla="val 4898"/>
            </a:avLst>
          </a:prstGeom>
          <a:solidFill>
            <a:srgbClr val="1E2F55"/>
          </a:solidFill>
          <a:ln w="12700">
            <a:solidFill>
              <a:srgbClr val="1E2F5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75908" y="1691640"/>
            <a:ext cx="474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9DB8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+ FOLLOW-UP · MEMORY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575908" y="2057400"/>
            <a:ext cx="47471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7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revenues in fiscal 2023? Then: how much did that grow on a currency-neutral basis?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575908" y="306324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$51.2 billion, then 16%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48640" y="3931920"/>
            <a:ext cx="5387188" cy="2240280"/>
          </a:xfrm>
          <a:prstGeom prst="roundRect">
            <a:avLst>
              <a:gd name="adj" fmla="val 4898"/>
            </a:avLst>
          </a:prstGeom>
          <a:solidFill>
            <a:srgbClr val="1E2F55"/>
          </a:solidFill>
          <a:ln w="12700">
            <a:solidFill>
              <a:srgbClr val="1E2F55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4206240"/>
            <a:ext cx="474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· DESIGNED WEAK CASE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68680" y="4572000"/>
            <a:ext cx="47471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7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geographic segment had the highest EBIT margin in fiscal 2023?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868680" y="557784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Greater China, 31.5% (must be computed, p. 39)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255868" y="3931920"/>
            <a:ext cx="5387188" cy="2240280"/>
          </a:xfrm>
          <a:prstGeom prst="roundRect">
            <a:avLst>
              <a:gd name="adj" fmla="val 4898"/>
            </a:avLst>
          </a:prstGeom>
          <a:solidFill>
            <a:srgbClr val="1E2F55"/>
          </a:solidFill>
          <a:ln w="12700">
            <a:solidFill>
              <a:srgbClr val="1E2F5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75908" y="4206240"/>
            <a:ext cx="474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FDBA7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· NOT IN THE FILING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6575908" y="4572000"/>
            <a:ext cx="4747108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dirty="0">
                <a:solidFill>
                  <a:srgbClr val="F7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were NIKE's total revenues in fiscal 2025?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6575908" y="5577840"/>
            <a:ext cx="47471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Expected: answerable = false, no guess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Challenge: search missed an exact fact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87188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4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(PHASE 2 RETRIEVER)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011680"/>
            <a:ext cx="474710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"How many employees did NIKE have?" retrieved pp. 4, 86, 6, 36. The answer is one sentence on p. 9, so the system replied: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68680" y="3017520"/>
            <a:ext cx="4747108" cy="1005840"/>
          </a:xfrm>
          <a:prstGeom prst="roundRect">
            <a:avLst>
              <a:gd name="adj" fmla="val 7273"/>
            </a:avLst>
          </a:prstGeom>
          <a:solidFill>
            <a:srgbClr val="F1F4F9"/>
          </a:solidFill>
          <a:ln w="12700">
            <a:solidFill>
              <a:srgbClr val="F1F4F9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1051560" y="3154680"/>
            <a:ext cx="4381348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"the excerpts do not contain information about the number of employees"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429768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search found it, but failed on Q1 and Q6.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255868" y="1371600"/>
            <a:ext cx="5387188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75908" y="1645920"/>
            <a:ext cx="47471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(HYBRID RETRIEVAL)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575908" y="2011680"/>
            <a:ext cx="474710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both rankings with Reciprocal Rank Fusion. Evidence retrieved: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575908" y="2651760"/>
            <a:ext cx="47471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4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→ 6/6</a:t>
            </a:r>
            <a:endParaRPr lang="en-US" sz="4400" dirty="0"/>
          </a:p>
        </p:txBody>
      </p:sp>
      <p:sp>
        <p:nvSpPr>
          <p:cNvPr id="13" name="Shape 11"/>
          <p:cNvSpPr/>
          <p:nvPr/>
        </p:nvSpPr>
        <p:spPr>
          <a:xfrm>
            <a:off x="6575908" y="3657600"/>
            <a:ext cx="4747108" cy="685800"/>
          </a:xfrm>
          <a:prstGeom prst="roundRect">
            <a:avLst>
              <a:gd name="adj" fmla="val 10667"/>
            </a:avLst>
          </a:prstGeom>
          <a:solidFill>
            <a:srgbClr val="EEF4FF"/>
          </a:solidFill>
          <a:ln w="12700">
            <a:solidFill>
              <a:srgbClr val="EEF4F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758788" y="3794760"/>
            <a:ext cx="438134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1421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"approximately 83,700 employees worldwide" (p. 9)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57784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hit: the Gemini free tier (5 requests/min, 20/day), so we paced calls, retried on 429 errors and made the evaluation resumable. And a bug where Chroma doubled the index to 1,032 chunks.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Evaluation: 7 questions checked by hand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9164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HIT-RATE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1031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4/6 → 6/6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3108960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only (Phase 2) → hybrid retrieval (Phase 3)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353458" y="141732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73498" y="169164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CORRECT ANSWERS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673498" y="21031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6/7 → 7/7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4673498" y="3108960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and Gemini 3.5 Flash; only the retriever changed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58277" y="1417320"/>
            <a:ext cx="3484778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478317" y="1691640"/>
            <a:ext cx="284469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5B65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478317" y="2103120"/>
            <a:ext cx="284469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40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6/6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8478317" y="3108960"/>
            <a:ext cx="284469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5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found in the cited page; Q7 (not in the filing) correctly declined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617720"/>
            <a:ext cx="110944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Poor case: </a:t>
            </a:r>
            <a:r>
              <a:rPr lang="en-US" sz="18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Phase 2 retriever missed p. 9, so the employee question was answered "not in the excerpts". </a:t>
            </a:r>
            <a:r>
              <a:rPr lang="en-US" sz="18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Surprise: </a:t>
            </a:r>
            <a:r>
              <a:rPr lang="en-US" sz="18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designed weak case Q6 passed; Gemini computed all four segment margins correctly.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and next improvement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87188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68680" y="164592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C2410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</a:t>
            </a:r>
            <a:endParaRPr lang="en-US" sz="22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2240280"/>
            <a:ext cx="47471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pypdf flattens tables, so calculations across table columns (Q6) are fragile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filing and 7 questions: results are indicative only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and the fusion constant were fixed in advance, not tuned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lives in the Python process; the API is deprecated in LangChain 1.6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255868" y="1371600"/>
            <a:ext cx="5387188" cy="384048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9DE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75908" y="1645920"/>
            <a:ext cx="47471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improvements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6575908" y="2240280"/>
            <a:ext cx="474710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Table-aware parsing plus a calculator tool for ratios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Several companies and years, with metadata filters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cross-encoder re-ranker after hybrid retrieval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600" dirty="0">
                <a:solidFill>
                  <a:srgbClr val="3B45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test set with an automatic faithfulness score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213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103120"/>
            <a:ext cx="10058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7F8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32918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C9D6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Code, notebook, results and report: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8404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000" dirty="0">
                <a:solidFill>
                  <a:srgbClr val="9DB8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github.com/akashgoyalll/finsight-rag-I025-39-40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725</Words>
  <Application>Microsoft Office PowerPoint</Application>
  <PresentationFormat>Widescreen</PresentationFormat>
  <Paragraphs>88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FinSight-RAG — Phase 3</dc:title>
  <dc:subject>PptxGenJS Presentation</dc:subject>
  <dc:creator>PptxGenJS</dc:creator>
  <cp:lastModifiedBy>Akash Goyal</cp:lastModifiedBy>
  <cp:revision>2</cp:revision>
  <dcterms:created xsi:type="dcterms:W3CDTF">2026-10-01T17:57:22Z</dcterms:created>
  <dcterms:modified xsi:type="dcterms:W3CDTF">2026-10-01T18:06:15Z</dcterms:modified>
</cp:coreProperties>
</file>